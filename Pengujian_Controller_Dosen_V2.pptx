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image" Target="../media/image1.png"/><Relationship Id="rId11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image" Target="../media/image3.png"/><Relationship Id="rId11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image" Target="../media/image5.png"/><Relationship Id="rId11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image" Target="../media/image7.png"/><Relationship Id="rId11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9784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8BDF8"/>
                </a:solidFill>
              </a:defRPr>
            </a:pPr>
            <a:r>
              <a:t>QUALITY ASSURANCE &amp; VISUAL E2E AUDIT REPORT</a:t>
            </a:r>
          </a:p>
          <a:p>
            <a:pPr>
              <a:spcAft>
                <a:spcPts val="1000"/>
              </a:spcAft>
              <a:defRPr sz="3000" b="1">
                <a:solidFill>
                  <a:srgbClr val="FFFFFF"/>
                </a:solidFill>
              </a:defRPr>
            </a:pPr>
            <a:r>
              <a:t>Skenario &amp; Hasil Pengujian Modul Controller Dosen (DPL)</a:t>
            </a:r>
          </a:p>
          <a:p>
            <a:pPr>
              <a:spcAft>
                <a:spcPts val="2400"/>
              </a:spcAft>
              <a:defRPr sz="1600">
                <a:solidFill>
                  <a:srgbClr val="94A3B8"/>
                </a:solidFill>
              </a:defRPr>
            </a:pPr>
            <a:r>
              <a:t>Sistem Informasi Manajemen Magang Mahasiswa</a:t>
            </a:r>
          </a:p>
          <a:p>
            <a:pPr>
              <a:spcAft>
                <a:spcPts val="2800"/>
              </a:spcAft>
              <a:defRPr sz="1100" b="1">
                <a:solidFill>
                  <a:srgbClr val="10B981"/>
                </a:solidFill>
              </a:defRPr>
            </a:pPr>
            <a:r>
              <a:t>✓ 4 Controller Teruji  •  ✓ 100% Exit Code 0  •  ✓ Anti-IDOR Terproteksi  •  ✓ 10 Bukti Tangkapan Layar Asli (Before vs After)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1188720" y="4297680"/>
            <a:ext cx="2926080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Mulai Tur Skenario Pengujian ➔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4389120" y="4297680"/>
            <a:ext cx="2377440" cy="548640"/>
          </a:xfrm>
          <a:prstGeom prst="roundRect">
            <a:avLst/>
          </a:prstGeom>
          <a:solidFill>
            <a:srgbClr val="1E293B"/>
          </a:solidFill>
          <a:ln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Lihat Matriks QA 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SISTEM INFORMASI MANAJEMEN MAGANG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Pengujian Modul Controller Dosen (DPL)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4114800" y="274320"/>
            <a:ext cx="91440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Home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0749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1. Dashboard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60350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2. Monitoring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699516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3. Logbook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95528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4. Evaluasi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89154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5. Laporan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98755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6. Anti-IDOR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108356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Matriks QA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777240"/>
            <a:ext cx="10728655" cy="18288"/>
          </a:xfrm>
          <a:prstGeom prst="rect">
            <a:avLst/>
          </a:prstGeom>
          <a:solidFill>
            <a:srgbClr val="26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ARSITEKTUR MODUL DOSEN PEMBIMBING LAPANGAN (DPL)</a:t>
            </a:r>
          </a:p>
        </p:txBody>
      </p:sp>
      <p:sp>
        <p:nvSpPr>
          <p:cNvPr id="13" name="Rounded Rectangle 12">
            <a:hlinkClick action="ppaction://hlinksldjump" r:id="rId3"/>
          </p:cNvPr>
          <p:cNvSpPr/>
          <p:nvPr/>
        </p:nvSpPr>
        <p:spPr>
          <a:xfrm>
            <a:off x="731520" y="1554480"/>
            <a:ext cx="3413455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1737360"/>
            <a:ext cx="30476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B82F6"/>
                </a:solidFill>
              </a:defRPr>
            </a:pPr>
            <a:r>
              <a:t>DashboardController</a:t>
            </a:r>
          </a:p>
          <a:p>
            <a:pPr>
              <a:spcAft>
                <a:spcPts val="1200"/>
              </a:spcAft>
              <a:defRPr sz="950">
                <a:solidFill>
                  <a:srgbClr val="94A3B8"/>
                </a:solidFill>
              </a:defRPr>
            </a:pPr>
            <a:r>
              <a:t>Skenario 1: Isolasi bimbingan, metrik statistik, dan filter pencarian nama/NIM.</a:t>
            </a:r>
          </a:p>
          <a:p>
            <a:pPr>
              <a:defRPr sz="850" b="1">
                <a:solidFill>
                  <a:srgbClr val="38BDF8"/>
                </a:solidFill>
              </a:defRPr>
            </a:pPr>
            <a:r>
              <a:t>Klik untuk lihat bukti pengujian ➔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4389120" y="1554480"/>
            <a:ext cx="3413455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737360"/>
            <a:ext cx="30476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8BDF8"/>
                </a:solidFill>
              </a:defRPr>
            </a:pPr>
            <a:r>
              <a:t>MonitoringController</a:t>
            </a:r>
          </a:p>
          <a:p>
            <a:pPr>
              <a:spcAft>
                <a:spcPts val="1200"/>
              </a:spcAft>
              <a:defRPr sz="950">
                <a:solidFill>
                  <a:srgbClr val="94A3B8"/>
                </a:solidFill>
              </a:defRPr>
            </a:pPr>
            <a:r>
              <a:t>Skenario 2: Segregasi tahapan magang berbasis tab lifecycle (Active vs Completed).</a:t>
            </a:r>
          </a:p>
          <a:p>
            <a:pPr>
              <a:defRPr sz="850" b="1">
                <a:solidFill>
                  <a:srgbClr val="38BDF8"/>
                </a:solidFill>
              </a:defRPr>
            </a:pPr>
            <a:r>
              <a:t>Klik untuk lihat bukti pengujian ➔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8046720" y="1554480"/>
            <a:ext cx="3413455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737360"/>
            <a:ext cx="30476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LogbookController</a:t>
            </a:r>
          </a:p>
          <a:p>
            <a:pPr>
              <a:spcAft>
                <a:spcPts val="1200"/>
              </a:spcAft>
              <a:defRPr sz="950">
                <a:solidFill>
                  <a:srgbClr val="94A3B8"/>
                </a:solidFill>
              </a:defRPr>
            </a:pPr>
            <a:r>
              <a:t>Skenario 3: Verifikasi status logbook berkala, catatan arahan DPL, dan bulk approve.</a:t>
            </a:r>
          </a:p>
          <a:p>
            <a:pPr>
              <a:defRPr sz="850" b="1">
                <a:solidFill>
                  <a:srgbClr val="38BDF8"/>
                </a:solidFill>
              </a:defRPr>
            </a:pPr>
            <a:r>
              <a:t>Klik untuk lihat bukti pengujian ➔</a:t>
            </a:r>
          </a:p>
        </p:txBody>
      </p:sp>
      <p:sp>
        <p:nvSpPr>
          <p:cNvPr id="19" name="Rounded Rectangle 18">
            <a:hlinkClick action="ppaction://hlinksldjump" r:id="rId6"/>
          </p:cNvPr>
          <p:cNvSpPr/>
          <p:nvPr/>
        </p:nvSpPr>
        <p:spPr>
          <a:xfrm>
            <a:off x="731520" y="3749039"/>
            <a:ext cx="3413455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31919"/>
            <a:ext cx="30476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59E0B"/>
                </a:solidFill>
              </a:defRPr>
            </a:pPr>
            <a:r>
              <a:t>EvaluationController</a:t>
            </a:r>
          </a:p>
          <a:p>
            <a:pPr>
              <a:spcAft>
                <a:spcPts val="1200"/>
              </a:spcAft>
              <a:defRPr sz="950">
                <a:solidFill>
                  <a:srgbClr val="94A3B8"/>
                </a:solidFill>
              </a:defRPr>
            </a:pPr>
            <a:r>
              <a:t>Skenario 4: Penilaian 3 aspek, pembobotan dinamis kampus (40:60), dan grade mutu.</a:t>
            </a:r>
          </a:p>
          <a:p>
            <a:pPr>
              <a:defRPr sz="850" b="1">
                <a:solidFill>
                  <a:srgbClr val="38BDF8"/>
                </a:solidFill>
              </a:defRPr>
            </a:pPr>
            <a:r>
              <a:t>Klik untuk lihat bukti pengujian ➔</a:t>
            </a:r>
          </a:p>
        </p:txBody>
      </p:sp>
      <p:sp>
        <p:nvSpPr>
          <p:cNvPr id="21" name="Rounded Rectangle 20">
            <a:hlinkClick action="ppaction://hlinksldjump" r:id="rId7"/>
          </p:cNvPr>
          <p:cNvSpPr/>
          <p:nvPr/>
        </p:nvSpPr>
        <p:spPr>
          <a:xfrm>
            <a:off x="4389120" y="3749039"/>
            <a:ext cx="3413455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931919"/>
            <a:ext cx="30476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B82F6"/>
                </a:solidFill>
              </a:defRPr>
            </a:pPr>
            <a:r>
              <a:t>Laporan Akhir (ACC)</a:t>
            </a:r>
          </a:p>
          <a:p>
            <a:pPr>
              <a:spcAft>
                <a:spcPts val="1200"/>
              </a:spcAft>
              <a:defRPr sz="950">
                <a:solidFill>
                  <a:srgbClr val="94A3B8"/>
                </a:solidFill>
              </a:defRPr>
            </a:pPr>
            <a:r>
              <a:t>Skenario 5: Verifikasi naskah laporan ilmiah, tab baru, dan otomasi kelulusan.</a:t>
            </a:r>
          </a:p>
          <a:p>
            <a:pPr>
              <a:defRPr sz="850" b="1">
                <a:solidFill>
                  <a:srgbClr val="38BDF8"/>
                </a:solidFill>
              </a:defRPr>
            </a:pPr>
            <a:r>
              <a:t>Klik untuk lihat bukti pengujian ➔</a:t>
            </a:r>
          </a:p>
        </p:txBody>
      </p:sp>
      <p:sp>
        <p:nvSpPr>
          <p:cNvPr id="23" name="Rounded Rectangle 22">
            <a:hlinkClick action="ppaction://hlinksldjump" r:id="rId8"/>
          </p:cNvPr>
          <p:cNvSpPr/>
          <p:nvPr/>
        </p:nvSpPr>
        <p:spPr>
          <a:xfrm>
            <a:off x="8046720" y="3749039"/>
            <a:ext cx="3413455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3931919"/>
            <a:ext cx="30476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43F5E"/>
                </a:solidFill>
              </a:defRPr>
            </a:pPr>
            <a:r>
              <a:t>Anti-IDOR Security</a:t>
            </a:r>
          </a:p>
          <a:p>
            <a:pPr>
              <a:spcAft>
                <a:spcPts val="1200"/>
              </a:spcAft>
              <a:defRPr sz="950">
                <a:solidFill>
                  <a:srgbClr val="94A3B8"/>
                </a:solidFill>
              </a:defRPr>
            </a:pPr>
            <a:r>
              <a:t>Skenario 6: Pengujian keamanan celah akses data bimbingan dosen lain (HTTP 403).</a:t>
            </a:r>
          </a:p>
          <a:p>
            <a:pPr>
              <a:defRPr sz="850" b="1">
                <a:solidFill>
                  <a:srgbClr val="38BDF8"/>
                </a:solidFill>
              </a:defRPr>
            </a:pPr>
            <a:r>
              <a:t>Klik untuk lihat bukti pengujian 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SISTEM INFORMASI MANAJEMEN MAGANG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Pengujian Modul Controller Dosen (DPL)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41148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Home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074920" y="274320"/>
            <a:ext cx="91440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1. Dashboard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60350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2. Monitoring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699516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3. Logbook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95528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4. Evaluasi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89154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5. Laporan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98755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6. Anti-IDOR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108356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Matriks QA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777240"/>
            <a:ext cx="10728655" cy="18288"/>
          </a:xfrm>
          <a:prstGeom prst="rect">
            <a:avLst/>
          </a:prstGeom>
          <a:solidFill>
            <a:srgbClr val="26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Skenario 1: Isolasi Data Dashboard DPL &amp; Filter Pencarian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0" y="896112"/>
            <a:ext cx="1218895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100%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371600"/>
            <a:ext cx="521208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  [SEBELUM / BEFORE]  Kondisi Awal: Seluruh Mahasiswa Bimbingan DPL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1783080"/>
            <a:ext cx="5212080" cy="2834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c01_dashboard_before_fil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1843087"/>
            <a:ext cx="5212080" cy="271462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31520" y="4709160"/>
            <a:ext cx="5212080" cy="16459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FFFFFF"/>
                </a:solidFill>
              </a:defRPr>
            </a:pPr>
            <a:r>
              <a:t>• Query terisolasi strictly scoped: academic_advisor_id = Auth::id()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Menyajikan 4 kartu metrik: Total Bimbingan, Sudah Dinilai, Laporan ACC, Belum Dinilai.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Mahasiswa dengan status 'resigned' dan 'rejected' otomatis dieksklusikan dari tabel.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Tabel dilengkapi tombol aksi cepat: 'Detail' untuk navigasi ke bimbingan individual.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1371600"/>
            <a:ext cx="5212080" cy="320040"/>
          </a:xfrm>
          <a:prstGeom prst="roundRect">
            <a:avLst/>
          </a:prstGeom>
          <a:solidFill>
            <a:srgbClr val="10322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  [HASIL PENGUJIAN / AFTER]  Hasil Pengujian: Filter Pencarian Berdasarkan Kata Kunci Nama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095" y="1783080"/>
            <a:ext cx="5212080" cy="2834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c02_dashboard_after_fil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095" y="1843087"/>
            <a:ext cx="5212080" cy="271462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248095" y="4709160"/>
            <a:ext cx="5212080" cy="16459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0975" y="48006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FFFFFF"/>
                </a:solidFill>
              </a:defRPr>
            </a:pPr>
            <a:r>
              <a:t>• Pencarian kata kunci 'Nurul' dieksekusi secara instan dengan operator ILIKE PostgreSQL.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Menyaring mahasiswa bimbingan yang sesuai tanpa merusak layout antarmuka.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Dropdown filter status laporan bersih dari bug tag &lt;optgroup&gt; sesuai standar.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Waktu respon cepat (&lt; 250ms), exit code pengujian HTTP 200 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SISTEM INFORMASI MANAJEMEN MAGANG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Pengujian Modul Controller Dosen (DPL)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41148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Home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0749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1. Dashboard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6035040" y="274320"/>
            <a:ext cx="91440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2. Monitoring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699516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3. Logbook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95528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4. Evaluasi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89154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5. Laporan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98755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6. Anti-IDOR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108356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Matriks QA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777240"/>
            <a:ext cx="10728655" cy="18288"/>
          </a:xfrm>
          <a:prstGeom prst="rect">
            <a:avLst/>
          </a:prstGeom>
          <a:solidFill>
            <a:srgbClr val="26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Skenario 2: Monitoring Tahapan Magang (Tab Active vs Completed)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0" y="896112"/>
            <a:ext cx="1218895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100%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371600"/>
            <a:ext cx="521208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  [SEBELUM / BEFORE]  Tab 1: Mahasiswa Aktif &amp; Calon Peserta (Active)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1783080"/>
            <a:ext cx="5212080" cy="2834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c03_monitoring_tab_act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1897380"/>
            <a:ext cx="5212080" cy="260604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31520" y="4709160"/>
            <a:ext cx="5212080" cy="16459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FFFFFF"/>
                </a:solidFill>
              </a:defRPr>
            </a:pPr>
            <a:r>
              <a:t>• Menampilkan peserta magang berjalan dan calon peserta yang sudah diterima.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Memuat counter logbook real-time dan badge status laporan akhir mahasiswa.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Mempermudah DPL memantau keaktifan harian mahasiswa di dinas mitra.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Tersedia filter instansi penempatan untuk segregasi dinas.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1371600"/>
            <a:ext cx="5212080" cy="320040"/>
          </a:xfrm>
          <a:prstGeom prst="roundRect">
            <a:avLst/>
          </a:prstGeom>
          <a:solidFill>
            <a:srgbClr val="10322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  [HASIL PENGUJIAN / AFTER]  Tab 2: Arsip Alumni Selesai / Lulus Magang (Completed)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095" y="1783080"/>
            <a:ext cx="5212080" cy="2834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c09_monitoring_tab_complet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095" y="1897380"/>
            <a:ext cx="5212080" cy="260604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248095" y="4709160"/>
            <a:ext cx="5212080" cy="16459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0975" y="48006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FFFFFF"/>
                </a:solidFill>
              </a:defRPr>
            </a:pPr>
            <a:r>
              <a:t>• Menampilkan mahasiswa yang telah menyelesaikan seluruh tahapan magang.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Badge status biru bertuliskan COMPLETED dengan nilai akhir resmi (95/100).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Dilengkapi tombol 'Detail' dan 'Edit Nilai' untuk tinjauan arsip bimbingan.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Query segregasi presisi: whereRelation('application', 'status', 'completed').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SISTEM INFORMASI MANAJEMEN MAGANG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Pengujian Modul Controller Dosen (DPL)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41148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Home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0749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1. Dashboard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60350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2. Monitoring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6995160" y="274320"/>
            <a:ext cx="91440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3. Logbook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95528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4. Evaluasi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89154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5. Laporan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98755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6. Anti-IDOR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108356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Matriks QA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777240"/>
            <a:ext cx="10728655" cy="18288"/>
          </a:xfrm>
          <a:prstGeom prst="rect">
            <a:avLst/>
          </a:prstGeom>
          <a:solidFill>
            <a:srgbClr val="26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Skenario 3: Verifikasi Logbook Harian Mahasiswa Bimbingan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0" y="896112"/>
            <a:ext cx="1218895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100%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371600"/>
            <a:ext cx="521208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  [SEBELUM / BEFORE]  Kondisi Awal: Logbook Berstatus Pending (Menunggu ACC)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1783080"/>
            <a:ext cx="5212080" cy="2834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c05_logbook_before_verificat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5472" y="1783080"/>
            <a:ext cx="4924174" cy="283464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31520" y="4709160"/>
            <a:ext cx="5212080" cy="16459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FFFFFF"/>
                </a:solidFill>
              </a:defRPr>
            </a:pPr>
            <a:r>
              <a:t>• Logbook tanggal 18 September 2026 berstatus kuning: 'DPL: PENDING'.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Tombol aksi 'Verifikasi DPL' tersedia interaktif di baris kegiatan.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DPL dapat memeriksa catatan kegiatan teknis dan lampiran dokumentasi mahasiswa.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Dukungan paket mingguan (weekly bundles 7 hari) untuk rekapitulasi efisien.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1371600"/>
            <a:ext cx="5212080" cy="320040"/>
          </a:xfrm>
          <a:prstGeom prst="roundRect">
            <a:avLst/>
          </a:prstGeom>
          <a:solidFill>
            <a:srgbClr val="10322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  [HASIL PENGUJIAN / AFTER]  Hasil Pengujian: Logbook Disetujui (ACC) &amp; Feedback Tersimpan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095" y="1783080"/>
            <a:ext cx="5212080" cy="2834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c06_logbook_after_verificati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2047" y="1783080"/>
            <a:ext cx="4924174" cy="283464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248095" y="4709160"/>
            <a:ext cx="5212080" cy="16459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0975" y="48006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FFFFFF"/>
                </a:solidFill>
              </a:defRPr>
            </a:pPr>
            <a:r>
              <a:t>• Badge DPL otomatis berubah hijau: 'DPL: APPROVED' setelah diverifikasi.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Kotak feedback resmi bimbingan DPL muncul dengan latar biru muda.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Tercatat timestamp riwayat: lecturer_verified_at = waktu sekarang.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Proteksi Anti-Tamper: Bulk approve terisolasi hanya pada mahasiswa bimbingan sendiri.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SISTEM INFORMASI MANAJEMEN MAGANG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Pengujian Modul Controller Dosen (DPL)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41148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Home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0749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1. Dashboard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60350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2. Monitoring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699516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3. Logbook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955280" y="274320"/>
            <a:ext cx="91440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4. Evaluasi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89154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5. Laporan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98755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6. Anti-IDOR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108356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Matriks QA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777240"/>
            <a:ext cx="10728655" cy="18288"/>
          </a:xfrm>
          <a:prstGeom prst="rect">
            <a:avLst/>
          </a:prstGeom>
          <a:solidFill>
            <a:srgbClr val="26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Skenario 4: Evaluasi Akademik 3 Aspek &amp; Pembobotan Kampus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0" y="896112"/>
            <a:ext cx="1218895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100%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371600"/>
            <a:ext cx="521208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  [SEBELUM / BEFORE]  Formulir Penilaian: Input Aspek Kompetensi DPL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1783080"/>
            <a:ext cx="5212080" cy="2834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c07_evaluation_form_bef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9203" y="1783080"/>
            <a:ext cx="4596713" cy="283464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31520" y="4709160"/>
            <a:ext cx="5212080" cy="16459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FFFFFF"/>
                </a:solidFill>
              </a:defRPr>
            </a:pPr>
            <a:r>
              <a:t>• Input 3 Aspek: 1. Penguasaan Materi • 2. Laporan • 3. Sikap &amp; Etika.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Input didukung slider interaktif (0 - 100) dan box angka tersinkronisasi.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Live grade preview card mengkalkulasi prediksi nilai akhir sebelum submit.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Validasi server-side ketat: nilai wajib numeric dengan batas 0 s/d 100.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1371600"/>
            <a:ext cx="5212080" cy="320040"/>
          </a:xfrm>
          <a:prstGeom prst="roundRect">
            <a:avLst/>
          </a:prstGeom>
          <a:solidFill>
            <a:srgbClr val="10322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  [HASIL PENGUJIAN / AFTER]  Detail Mahasiswa: Rekapitulasi Nilai &amp; Mutu Tersimpan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095" y="1783080"/>
            <a:ext cx="5212080" cy="2834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c08_evaluation_submitted_af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095" y="1794510"/>
            <a:ext cx="5212080" cy="281178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248095" y="4709160"/>
            <a:ext cx="5212080" cy="16459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0975" y="48006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FFFFFF"/>
                </a:solidFill>
              </a:defRPr>
            </a:pPr>
            <a:r>
              <a:t>• Nilai DPL terhitung akurat: (92 + 90 + 94) / 3 = 85.00 / 100.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Rumus Pembobotan Kampus: (40% x Dinas) + (60% x DPL) = 85 (Nilai Akhir).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Indeks Mutu terbit otomatis: Grade 'A (Sangat Baik / Unggul)'.</a:t>
            </a:r>
          </a:p>
          <a:p>
            <a:pPr>
              <a:spcAft>
                <a:spcPts val="300"/>
              </a:spcAft>
              <a:defRPr sz="900">
                <a:solidFill>
                  <a:srgbClr val="94A3B8"/>
                </a:solidFill>
              </a:defRPr>
            </a:pPr>
            <a:r>
              <a:t>• Aksi tercatat permanen di AuditLog sistem: 'LECTURER_EVALUATION_SUBMIT'.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SISTEM INFORMASI MANAJEMEN MAGANG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Pengujian Modul Controller Dosen (DPL)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41148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Home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0749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1. Dashboard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60350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2. Monitoring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699516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3. Logbook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95528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4. Evaluasi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8915400" y="274320"/>
            <a:ext cx="91440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5. Laporan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98755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6. Anti-IDOR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108356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Matriks QA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777240"/>
            <a:ext cx="10728655" cy="18288"/>
          </a:xfrm>
          <a:prstGeom prst="rect">
            <a:avLst/>
          </a:prstGeom>
          <a:solidFill>
            <a:srgbClr val="26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Skenario 5: Verifikasi Dokumen Laporan Akhir &amp; Launcher Tab Baru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463040"/>
            <a:ext cx="62179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c04_student_detail_report_ac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2461059"/>
            <a:ext cx="6217920" cy="239308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132320" y="1463040"/>
            <a:ext cx="4327855" cy="4389120"/>
          </a:xfrm>
          <a:prstGeom prst="roundRect">
            <a:avLst/>
          </a:prstGeom>
          <a:solidFill>
            <a:srgbClr val="131B2E"/>
          </a:solidFill>
          <a:ln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1737360"/>
            <a:ext cx="37792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38BDF8"/>
                </a:solidFill>
              </a:defRPr>
            </a:pPr>
            <a:r>
              <a:t>HASIL VERIFIKASI DOKUMEN LAPORAN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✓ Status Verifikasi: APPROVED (ACC) oleh DPL Kampus.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✓ Link Tab Baru: Tombol 'Buka Naskah Laporan (Tab Baru ↗)' menggantikan iframe inline.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✓ Eliminasi Fitur Duplikat: Tombol 'Cetak Berita Acara' dihapus guna mencegah redundansi berkas.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✓ Header Baku Unduhan: Mengirim header Content-Disposition dengan format Laporan_Akhir_[NIM]_[Nama].pdf.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✓ Auto-Completion Trigger: Memanggil syncCompletionStatus() untuk mengubah status penempatan jadi 'completed' saat nilai lengkap dan laporan di-ACC.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✓ Audit Trail: Aksi verifikasi dicatat ke tabel audit_logs ('LECTURER_REPORT_APPROVAL').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SISTEM INFORMASI MANAJEMEN MAGANG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Pengujian Modul Controller Dosen (DPL)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41148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Home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0749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1. Dashboard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60350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2. Monitoring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699516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3. Logbook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95528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4. Evaluasi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89154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5. Laporan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9875520" y="274320"/>
            <a:ext cx="91440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6. Anti-IDOR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108356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Matriks QA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777240"/>
            <a:ext cx="10728655" cy="18288"/>
          </a:xfrm>
          <a:prstGeom prst="rect">
            <a:avLst/>
          </a:prstGeom>
          <a:solidFill>
            <a:srgbClr val="26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Skenario 6: Pengujian Keamanan Hak Akses &amp; Anti-IDOR (Insecure Direct Object References)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463040"/>
            <a:ext cx="621792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c10_security_idor_forbidden_40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1636776"/>
            <a:ext cx="6217920" cy="404164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132320" y="1463040"/>
            <a:ext cx="4327855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1737360"/>
            <a:ext cx="37792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F43F5E"/>
                </a:solidFill>
              </a:defRPr>
            </a:pPr>
            <a:r>
              <a:t>AUDIT KEAMANAN: HTTP 403 FORBIDDEN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🔒 Target Celah: Percobaan eksploitasi parameter URL (/lecturer/students/{id}) oleh pengguna tanpa hak.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🔒 Simulasi Serangan: Dosen UNAIR (dosen.unair1@unair.ac.id) mencoba membuka placement #2 milik mahasiswa Dosen UNITOMO.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🔒 Respon Sistem: Permintaan digugurkan seketika dengan kode status HTTP 403 Forbidden.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🔒 Pesan Penolakan: 'Akses Ditolak: Anda bukan Dosen Pembimbing Lapangan yang ditugaskan untuk mahasiswa ini.'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🔒 Data Protection: Zero data leakage (biodata, nilai, dan dokumen tetap terlindungi 100%).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🔒 Role Guard Middleware: Akses peran silang (Mahasiswa/Mentor) tertutup rapat.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SISTEM INFORMASI MANAJEMEN MAGANG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Pengujian Modul Controller Dosen (DPL)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41148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Home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0749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1. Dashboard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60350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2. Monitoring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699516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3. Logbook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95528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4. Evaluasi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89154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5. Laporan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98755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6. Anti-IDOR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10835640" y="274320"/>
            <a:ext cx="91440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Matriks QA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777240"/>
            <a:ext cx="10728655" cy="18288"/>
          </a:xfrm>
          <a:prstGeom prst="rect">
            <a:avLst/>
          </a:prstGeom>
          <a:solidFill>
            <a:srgbClr val="26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Matriks Rekapitulasi Hasil Pengujian Controller Dosen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1463040"/>
          <a:ext cx="107286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1463040"/>
                <a:gridCol w="1645920"/>
                <a:gridCol w="2316175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38BDF8"/>
                          </a:solidFill>
                        </a:defRPr>
                      </a:pPr>
                      <a:r>
                        <a:t>Modul / Controller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38BDF8"/>
                          </a:solidFill>
                        </a:defRPr>
                      </a:pPr>
                      <a:r>
                        <a:t>Skenario Uji Kunci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38BDF8"/>
                          </a:solidFill>
                        </a:defRPr>
                      </a:pPr>
                      <a:r>
                        <a:t>Metode Uji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38BDF8"/>
                          </a:solidFill>
                        </a:defRPr>
                      </a:pPr>
                      <a:r>
                        <a:t>Hasil Eksekusi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38BDF8"/>
                          </a:solidFill>
                        </a:defRPr>
                      </a:pPr>
                      <a:r>
                        <a:t>Status Integritas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DashboardController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Isolasi bimbingan, metrik statistik &amp; filter pencarian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Browser E2E &amp; Feature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100% PASS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Strictly Scoped DPL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MonitoringController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Segregasi tab lifecycle: active vs completed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Browser Automation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100% PASS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Filter Presisi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LogbookController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Weekly bundles, verifikasi inline, bulk approve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E2E &amp; Unit Test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100% PASS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Anti-Tamper &amp; Timestamped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EvaluationController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Evaluasi 3 aspek, pembobotan dinamis &amp; ACC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Math &amp; DB Check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100% PASS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Audit Trail Tercatat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Security &amp; Auth Guard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Anti-IDOR lintas DPL &amp; Role Guard Middleware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Negative Security Attack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100% PASS (403)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Zero Data Leakage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Lifecycle Integration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Auto-Completion Sync kelulusan peserta magang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Event &amp; Observer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100% PASS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Konsistensi Database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731520" y="5486400"/>
            <a:ext cx="2560320" cy="4572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Lihat Skenario 1 ➔</a:t>
            </a:r>
          </a:p>
        </p:txBody>
      </p:sp>
      <p:sp>
        <p:nvSpPr>
          <p:cNvPr id="15" name="Rounded Rectangle 14">
            <a:hlinkClick action="ppaction://hlinksldjump" r:id="rId10"/>
          </p:cNvPr>
          <p:cNvSpPr/>
          <p:nvPr/>
        </p:nvSpPr>
        <p:spPr>
          <a:xfrm>
            <a:off x="3474720" y="5486400"/>
            <a:ext cx="2560320" cy="457200"/>
          </a:xfrm>
          <a:prstGeom prst="roundRect">
            <a:avLst/>
          </a:prstGeom>
          <a:solidFill>
            <a:srgbClr val="131B2E"/>
          </a:solidFill>
          <a:ln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</a:defRPr>
            </a:pPr>
            <a:r>
              <a:t>Ke Halaman Penutup 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SISTEM INFORMASI MANAJEMEN MAGANG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Pengujian Modul Controller Dosen (DPL)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41148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Home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0749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1. Dashboard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60350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2. Monitoring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699516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3. Logbook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95528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4. Evaluasi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891540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5. Laporan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987552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6. Anti-IDOR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10835640" y="274320"/>
            <a:ext cx="914400" cy="365760"/>
          </a:xfrm>
          <a:prstGeom prst="roundRect">
            <a:avLst/>
          </a:prstGeom>
          <a:solidFill>
            <a:srgbClr val="13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0">
                <a:solidFill>
                  <a:srgbClr val="94A3B8"/>
                </a:solidFill>
              </a:defRPr>
            </a:pPr>
            <a:r>
              <a:t>Matriks QA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777240"/>
            <a:ext cx="10728655" cy="18288"/>
          </a:xfrm>
          <a:prstGeom prst="rect">
            <a:avLst/>
          </a:prstGeom>
          <a:solidFill>
            <a:srgbClr val="26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71600" y="1280160"/>
            <a:ext cx="9448495" cy="4572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63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1645920"/>
            <a:ext cx="85340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1100" b="1">
                <a:solidFill>
                  <a:srgbClr val="10B981"/>
                </a:solidFill>
              </a:defRPr>
            </a:pPr>
            <a:r>
              <a:t>STATUS KESIAPAN PRODUKSI: 100% READY</a:t>
            </a:r>
          </a:p>
          <a:p>
            <a:pPr algn="ctr">
              <a:spcAft>
                <a:spcPts val="1600"/>
              </a:spcAft>
              <a:defRPr sz="2600" b="1">
                <a:solidFill>
                  <a:srgbClr val="FFFFFF"/>
                </a:solidFill>
              </a:defRPr>
            </a:pPr>
            <a:r>
              <a:t>Seluruh Controller Modul Dosen Teruji &amp; Stabil</a:t>
            </a:r>
          </a:p>
          <a:p>
            <a:pPr algn="ctr">
              <a:spcAft>
                <a:spcPts val="2800"/>
              </a:spcAft>
              <a:defRPr sz="1100">
                <a:solidFill>
                  <a:srgbClr val="94A3B8"/>
                </a:solidFill>
              </a:defRPr>
            </a:pPr>
            <a:r>
              <a:t>Pengujian komprehensif pada level browser nyata (Playwright/Chrome) dan PHPUnit Feature Test</a:t>
            </a:r>
            <a:br/>
            <a:r>
              <a:t>membuktikan bahwa modul Dosen Pembimbing Lapangan (DPL) bebas dari regresi fungsional,</a:t>
            </a:r>
            <a:br/>
            <a:r>
              <a:t>perhitungan nilai adaptif akurat, alur verifikasi berkas tuntas, dan keamanan data multi-tenant terjamin.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4480560" y="4389120"/>
            <a:ext cx="3200400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Kembali ke Slide Utama (Cover) 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