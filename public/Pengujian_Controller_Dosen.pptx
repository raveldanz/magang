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9.xml"/><Relationship Id="rId4" Type="http://schemas.openxmlformats.org/officeDocument/2006/relationships/slide" Target="slide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784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QUALITY ASSURANCE &amp; COMPREHENSIVE INNOVATION REPORT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Pengujian Controller Dosen &amp; 5 Inovasi Unggulan DPL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Sistem Informasi Manajemen Magang Mahasiswa (SIM-Magang)</a:t>
            </a:r>
          </a:p>
          <a:p>
            <a:pPr>
              <a:spcAft>
                <a:spcPts val="2600"/>
              </a:spcAft>
              <a:defRPr sz="1100" b="1">
                <a:solidFill>
                  <a:srgbClr val="10B981"/>
                </a:solidFill>
              </a:defRPr>
            </a:pPr>
            <a:r>
              <a:t>✓ 4 Controller Teruji  •  ✓ Strict Exit Code 0 (189 Test Suites Passed)  •  ✓ Anti-IDOR 100% Aman  •  ✓ 5 Inovasi DPL Baru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1188720" y="4389120"/>
            <a:ext cx="29260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Mulai Tur Pengujian QA ➔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4297680" y="4389120"/>
            <a:ext cx="3108960" cy="548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Lihat 5 Inovasi Baru DPL ★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7589520" y="4389120"/>
            <a:ext cx="237744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Matriks Rekapitulasi 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Agenda Pengujian Fungsional &amp; Inovasi Modul DPL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731520" y="1417320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5087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1: Dashboard Controller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Isolasi data bimbingan, verifikasi metrik ringkasan, dan filter dinamis.</a:t>
            </a:r>
          </a:p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4379976" y="1417320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15087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2: Monitoring Controller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Segregasi tab siklus hidup (Active vs Completed) dan filter instansi.</a:t>
            </a:r>
          </a:p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8028432" y="1417320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5087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3: Logbook Controller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Audit weekly bundles, verifikasi inline, feed approval, dan proteksi revisi.</a:t>
            </a:r>
          </a:p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1520" y="2633472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2491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4: Evaluation Controller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Penilaian 3 aspek akademik, pembobotan dinamis kampus (40:60), audit trail.</a:t>
            </a:r>
          </a:p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4379976" y="2633472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272491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5: Final Report Approval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Review dokumen via tab baru, penolakan revisi, dan sinkronisasi kelulusan.</a:t>
            </a:r>
          </a:p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8028432" y="2633472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272491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Skenario 6: Security &amp; Anti-IDOR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Penolakan akses URL cross-advisor (HTTP 403 Forbidden) &amp; zero leakage.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731520" y="3849624"/>
            <a:ext cx="3429000" cy="1051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41064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</a:defRPr>
            </a:pPr>
            <a:r>
              <a:t>Inovasi 1: Smart Action Center Banner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Peringatan proaktif: laporan menunggu ACC, mahasiswa mendekati akhir magang.</a:t>
            </a:r>
          </a:p>
        </p:txBody>
      </p:sp>
      <p:sp>
        <p:nvSpPr>
          <p:cNvPr id="28" name="Rounded Rectangle 27">
            <a:hlinkClick action="ppaction://hlinksldjump" r:id="rId6"/>
          </p:cNvPr>
          <p:cNvSpPr/>
          <p:nvPr/>
        </p:nvSpPr>
        <p:spPr>
          <a:xfrm>
            <a:off x="4379976" y="3849624"/>
            <a:ext cx="3429000" cy="1051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3941064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</a:defRPr>
            </a:pPr>
            <a:r>
              <a:t>Inovasi 2: Dual-Status Badges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Transparansi skor berdampingan (Nilai Dinas vs Nilai DPL vs Nilai Akhir).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8028432" y="3849624"/>
            <a:ext cx="3429000" cy="1051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941064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</a:defRPr>
            </a:pPr>
            <a:r>
              <a:t>Inovasi 3: Supervision Log DPL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Lembar riwayat bimbingan berkala, tahapan revisi BAB naskah &amp; arahan ilmiah.</a:t>
            </a:r>
          </a:p>
        </p:txBody>
      </p:sp>
      <p:sp>
        <p:nvSpPr>
          <p:cNvPr id="32" name="Rounded Rectangle 31">
            <a:hlinkClick action="ppaction://hlinksldjump" r:id="rId8"/>
          </p:cNvPr>
          <p:cNvSpPr/>
          <p:nvPr/>
        </p:nvSpPr>
        <p:spPr>
          <a:xfrm>
            <a:off x="731520" y="5065776"/>
            <a:ext cx="3429000" cy="1051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</a:defRPr>
            </a:pPr>
            <a:r>
              <a:t>Inovasi 4: Cetak BAP Resmi A4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Format cetak resmi Berita Acara &amp; Nilai standar kampus + QR Code validasi.</a:t>
            </a:r>
          </a:p>
        </p:txBody>
      </p:sp>
      <p:sp>
        <p:nvSpPr>
          <p:cNvPr id="34" name="Rounded Rectangle 33">
            <a:hlinkClick action="ppaction://hlinksldjump" r:id="rId9"/>
          </p:cNvPr>
          <p:cNvSpPr/>
          <p:nvPr/>
        </p:nvSpPr>
        <p:spPr>
          <a:xfrm>
            <a:off x="4379976" y="5065776"/>
            <a:ext cx="3429000" cy="1051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</a:defRPr>
            </a:pPr>
            <a:r>
              <a:t>Inovasi 5: Ekspor Rekapitulasi CSV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Ekspor data bimbingan lengkap siap olah Excel untuk pelaporan PD-DIKTI.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8028432" y="5065776"/>
            <a:ext cx="3429000" cy="1051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5157216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</a:defRPr>
            </a:pPr>
            <a:r>
              <a:t>Matriks Rekapitulasi &amp; Hasil Uji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Tabel ringkasan status kelulusan pengujian komprehensif 100% Exit Code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1: Dashboard Controller &amp; Filter Pencarian Mahasiswa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39319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01_dashboard_before_filt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490662"/>
            <a:ext cx="3931920" cy="20478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3749039"/>
            <a:ext cx="39319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c02_dashboard_after_fil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3776661"/>
            <a:ext cx="3931920" cy="20478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46320" y="1463040"/>
            <a:ext cx="6613855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645920"/>
            <a:ext cx="6065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DESKRIPSI &amp; HASIL AUDIT SKENARIO 1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Metode Uji: Otomasi Browser Headless (Playwright/Chrome) pada rute /lecturer/dashboard.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Pengujian Isolasi Multi-Tenant: Dosen hanya dapat melihat mahasiswa dengan relasi academic_advisor_id miliknya.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Kalkulasi Metrik Real-Time: Kartu statistik (Total Bimbingan, Evaluasi Selesai, Laporan ACC, Belum Dinilai) teragregasi secara otomatis.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Filter Pencarian Responsif: Pengujian input query 'Nurul' menyaring data secara instan tanpa merusak layout.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Ketahanan Terhadap SQL Injection: Query pencarian terlindungi PDO Parameter Binding.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2: Monitoring Controller &amp; Segregasi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393192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03_monitoring_tab_activ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531620"/>
            <a:ext cx="3931920" cy="19659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846320" y="1463040"/>
            <a:ext cx="6613855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645920"/>
            <a:ext cx="6065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DESKRIPSI &amp; HASIL AUDIT SKENARIO 2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Segregasi Tab: Tab 'Mahasiswa Aktif' hanya menampilkan penempatan status active/accepted.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Tab 'Arsip Alumni Selesai': Hanya menampilkan penempatan dengan status completed.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Tab 'Calon Peserta' &amp; 'Semua': Menyajikan agregasi menyeluruh tanpa duplikasi query.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Filter Unit &amp; Instansi: Dropdown dinas menyaring penempatan spesifik instansi mitra secara akurat.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3: Logbook Controller &amp; Verifikasi Inline DPL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463040"/>
            <a:ext cx="6613855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6065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DESKRIPSI &amp; HASIL AUDIT SKENARIO 3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Verifikasi Inline DPL: Form akordeon interaktif memungkinkan pemberian feedback dan status ACC tanpa berpindah halaman.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Timestamp Audit: Kolom lecturer_verified_at mencatat waktu pasti peninjauan.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Bulk Approve Terproteksi: Fitur persetujuan massal logbook terseleksi dengan filter status pending.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Integritas Logbook: Status persetujuan mentor lapangan dinas dan DPL kampus terpisah secara mandiri.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4: Evaluation Controller &amp; Pembobotan Adaptif Kampus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463040"/>
            <a:ext cx="4510735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645920"/>
            <a:ext cx="39620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DESKRIPSI &amp; HASIL AUDIT SKENARIO 4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Form Interaktif 3 Aspek: 1) Penguasaan Materi (Mastery), 2) Kualitas Laporan (Report), 3) Sikap &amp; Komunikasi (Attitude).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Kalkulasi Real-time Alpine.js: Slider range dan number input terhubung dua arah secara instan.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Pembobotan Dinamis Kampus: Bobot adaptif (40% Nilai Dinas + 60% Nilai DPL) otomatis dikonversi ke Nilai Huruf.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Audit Log Terkoneksi: Penyimpanan nilai mencatat record ke tabel audit_logs untuk akuntabilitas.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5: Final Report Approval &amp; ACC Laporan Akhir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463040"/>
            <a:ext cx="6613855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6065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DESKRIPSI &amp; HASIL AUDIT SKENARIO 5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Status Verifikasi: APPROVED (ACC) oleh DPL Kampus.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Link Tab Baru: Tombol 'Buka Naskah Laporan (Tab Baru ↗)' menggantikan iframe inline.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Auto-Completion Trigger: Memanggil syncCompletionStatus() untuk mengubah status penempatan jadi 'completed' saat nilai lengkap dan laporan di-ACC.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✓ Audit Trail: Aksi verifikasi dicatat ke tabel audit_logs ('LECTURER_REPORT_APPROVAL').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Skenario 6: Pengujian Keamanan Hak Akses &amp; Anti-IDOR (Insecure Direct Object References)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0_security_idor_forbidden_40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636776"/>
            <a:ext cx="6217920" cy="40416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737360"/>
            <a:ext cx="3779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43F5E"/>
                </a:solidFill>
              </a:defRPr>
            </a:pPr>
            <a:r>
              <a:t>AUDIT KEAMANAN: HTTP 403 FORBIDDEN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🔒 Target Celah: Percobaan eksploitasi parameter URL (/lecturer/students/{id}) oleh dosen kampus lain.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🔒 Simulasi Serangan: Dosen UNAIR (dosen.unair1@unair.ac.id) mencoba membuka placement #2 milik mahasiswa Dosen UNITOMO.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🔒 Respon Sistem: Permintaan digugurkan seketika dengan kode status HTTP 403 Forbidden.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🔒 Pesan Penolakan: 'Akses Ditolak: Anda bukan Dosen Pembimbing Lapangan yang ditugaskan untuk mahasiswa ini.'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🔒 Data Protection: Zero data leakage (biodata, nilai, dan dokumen tetap terlindungi 100%).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Inovasi 1: Smart Action Alerts Center di Dashboard DPL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1_dpl_smart_action_bann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2038350"/>
            <a:ext cx="6217920" cy="3238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3779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PUSAT TINDAKAN &amp; PERINGATAN PROAKTIF DPL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Masalah Sebelumnya: DPL harus membuka profil mahasiswa satu-per-satu untuk mengecek apakah ada laporan yang perlu di-ACC atau logbook yang belum dinilai.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Solusi Inovasi: Smart Action Center Banner otomatis muncul di puncak dashboard saat ada tugas mendesak.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3 Kategori Peringatan Cerdas:</a:t>
            </a:r>
            <a:br/>
            <a:r>
              <a:t>  1. Laporan Akhir: Tombol aksi langsung review naskah yang menunggu ACC.</a:t>
            </a:r>
            <a:br/>
            <a:r>
              <a:t>  2. Masa Berakhir: Deteksi mahasiswa aktif mendekati H-14 selesai magang yang belum dinilai.</a:t>
            </a:r>
            <a:br/>
            <a:r>
              <a:t>  3. Logbook Pending: Notifikasi feed logbook harian siap validasi.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UI Eksklusif: Gradient navy ke indigo dengan badge peringatan pulsasi dinamis.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Inovasi 2: Dual-Status Badges &amp; Transparansi Penilaian Kumulatif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2_dpl_dual_badg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2146300"/>
            <a:ext cx="6217920" cy="30226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3779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KOMPARASI NILAI DINAS VS NILAI DPL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Masalah Sebelumnya: Kolom penilaian hanya menampilkan skor tunggal DPL, menyamarkan apakah mentor dinas sudah menilai atau belum.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Solusi Inovasi: Dual-Status Badge berdampingan pada tabel dashboard:</a:t>
            </a:r>
            <a:br/>
            <a:r>
              <a:t>  🏢 [Skor Dinas] vs 🎓 [Skor DPL Kampus].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Kalkulasi Nilai Kumulatif: Menampilkan Nilai Akhir gabungan beserta huruf mutu (contoh: 85.0 / A) secara otomatis.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Quick Action BAP: Tombol cetak Berita Acara langsung dapat diakses dari baris tabel mahasiswa tanpa harus masuk ke form penilaian.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State Indikator: Badge rose '🎓 Nilai' otomatis muncul jika DPL belum menginput nilai.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Inovasi 3: Lembar Riwayat Konsultasi &amp; Bimbingan Akademik DPL (Supervision Log)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3_dpl_supervision_lo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2903370"/>
            <a:ext cx="6217920" cy="15084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3779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</a:defRPr>
            </a:pPr>
            <a:r>
              <a:t>LOGBOOK AKADEMIK &amp; BIMBINGAN LAPORAN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Masalah Sebelumnya: DPL tidak memiliki wadah resmi di sistem untuk mendokumentasikan sesi pertemuan bimbingan berkala dan revisi BAB laporan.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Solusi Inovasi: Modul Academic Consultation Log interaktif di halaman detail mahasiswa.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Fitur Utama:</a:t>
            </a:r>
            <a:br/>
            <a:r>
              <a:t>  • Pencatatan tanggal sesi pertemuan bimbingan.</a:t>
            </a:r>
            <a:br/>
            <a:r>
              <a:t>  • Tahapan bimbingan: Bab 1-3, Analisis Sistem, Draf Akhir, Persiapan Sidang.</a:t>
            </a:r>
            <a:br/>
            <a:r>
              <a:t>  • Catatan &amp; instruksi revisi ilmiah dari DPL.</a:t>
            </a:r>
            <a:br/>
            <a:r>
              <a:t>  • Timeline card sesi tersimpan rapi dengan aksi hapus terproteksi.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Audit Trail: Setiap pencatatan bimbingan tercatat di tabel audit_logs ('LECTURER_CONSULTATION_ADD').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Inovasi 4: Cetak Berita Acara &amp; Lembar Nilai Resmi DPL (BAP-DPL Standar A4)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4_dpl_grade_sheet_b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757680"/>
            <a:ext cx="6217920" cy="379983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3779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DOKUMEN RESMI KELULUSAN &amp; NILAI KAMPUS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Kop Surat Resmi Universitas: Terkoneksi otomatis dengan profil perguruan tinggi mahasiswa dan logo resmi kementerian.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Nomor Dokumen Standar: Format penomoran otomatis BAP-DPL/[Tahun]/[ID]/[NIM] siap arsip prodi.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Dual-Evaluation Breakdown:</a:t>
            </a:r>
            <a:br/>
            <a:r>
              <a:t>  • Evaluasi Kinerja Lapangan (Mentor Dinas) bobot 40%.</a:t>
            </a:r>
            <a:br/>
            <a:r>
              <a:t>  • Penilaian Akademik 3 Aspek (DPL Kampus) bobot 60%.</a:t>
            </a:r>
            <a:br/>
            <a:r>
              <a:t>  • Rekap Nilai Akhir Kumulatif &amp; Nilai Huruf Mutu (A/B/C).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Pengesahan 3 Sisi &amp; QR Code Validasi: Tanda tangan digital mentor, DPL, dan stempel QR elektronik sistem.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Print-Ready A4: CSS media print teroptimasi (margin presisi, topbar no-print).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Inovasi 5: Ekspor Rekapitulasi Mahasiswa Bimbingan DPL ke Format CSV / 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0"/>
            <a:ext cx="62179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c15_dpl_monitoring_expo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2038350"/>
            <a:ext cx="6217920" cy="3238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463040"/>
            <a:ext cx="4327855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3779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STREAMING REKAPITULASI SIAP OLAH (EXCEL READY)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Kebutuhan Pelaporan Akademik: Dosen memerlukan berkas rekap data bimbingan magang untuk keperluan pelaporan PD-DIKTI, BKD (Beban Kerja Dosen), dan akreditasi prodi.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Solusi Inovasi: Fitur 'Ekspor Rekap CSV' pada halaman /lecturer/monitoring.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Kompatibilitas Excel: Dilengkapi UTF-8 BOM agar terbaca sempurna di Microsoft Excel tanpa distorsi karakter.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Kolom Lengkap: Nama Mahasiswa, NIM, Instansi Mitra, Unit Kerja, Mentor Dinas, Status Magang, Periode, Total Logbook, Logbook ACC, Status Laporan, Nilai Dinas, Nilai DPL, Nilai Akhir, Nilai Huruf, dan Jumlah Sesi Bimbingan.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★ Filter Aware: Ekspor mengikuti filter aktif (pencarian nama/NIM, dinas mitra, dan tab status).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Matriks Rekapitulasi Hasil Pengujian Controller &amp; Inovasi Dosen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3716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1463040"/>
                <a:gridCol w="1645920"/>
                <a:gridCol w="2316175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Modul / Fitur Inovasi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Skenario Uji Kunci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Metode Uji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Hasil Eksekusi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Status Integritas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DashboardController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Smart Action Alerts &amp; Isolasi Bimbingan DPL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Playwright E2E &amp; Feature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Strictly Scoped DPL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Dual-Status Badges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Komparasi Nilai Mentor vs DPL vs Nilai Akhir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Visual Browser &amp; Unit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Transparansi Penilaian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MonitoringController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Segregasi Tab Lifecycle &amp; Ekspor CSV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Browser &amp; Stream Test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Excel Compatible BOM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LogbookController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Weekly bundles, verifikasi inline, feed approval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E2E &amp; Unit Test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Anti-Tamper &amp; Scoped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Supervision Log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Pencatatan sesi konsultasi, tahap bab &amp; catatan DPL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Feature Test &amp; Migration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Audit Trail Terkoneksi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EvaluationController &amp; BAP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Evaluasi 3 aspek, rumus 40:60, Cetak BAP A4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Math Check &amp; Media Print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Dokumen Standar Kampus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Security &amp; Anti-IDOR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Anti-IDOR lintas DPL &amp; Role Guard Middleware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Negative Security Attack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100% PASS (403)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Zero Data Leakage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5"/>
          </p:cNvPr>
          <p:cNvSpPr/>
          <p:nvPr/>
        </p:nvSpPr>
        <p:spPr>
          <a:xfrm>
            <a:off x="731520" y="5669280"/>
            <a:ext cx="25603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Lihat 5 Inovasi DPL ➔</a:t>
            </a:r>
          </a:p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3474720" y="5669280"/>
            <a:ext cx="2560320" cy="411480"/>
          </a:xfrm>
          <a:prstGeom prst="roundRect">
            <a:avLst/>
          </a:prstGeom>
          <a:solidFill>
            <a:srgbClr val="131B2E"/>
          </a:solidFill>
          <a:ln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Ke Halaman Penutup 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SISTEM INFORMASI MANAJEMEN MAGANG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Pengujian Modul Dosen Pembimbing (DPL)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384048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Home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474573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Agenda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565099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Core QA (1-6)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55624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1. Smart Banner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461504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 Dual Badge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8366760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3. Riwayat Bimbingan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9272016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4. BAP Cetak A4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10177272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5. Ekspor CSV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11082528" y="237744"/>
            <a:ext cx="868680" cy="347472"/>
          </a:xfrm>
          <a:prstGeom prst="round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Matriks 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749808"/>
            <a:ext cx="10728655" cy="18288"/>
          </a:xfrm>
          <a:prstGeom prst="rect">
            <a:avLst/>
          </a:prstGeom>
          <a:solidFill>
            <a:srgbClr val="2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188720"/>
            <a:ext cx="9448495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46304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STATUS KESIAPAN PRODUKSI: 100% READY</a:t>
            </a:r>
          </a:p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Modul DPL &amp; 5 Inovasi Unggulan Teruji Stabil</a:t>
            </a:r>
          </a:p>
          <a:p>
            <a:pPr algn="ctr">
              <a:spcAft>
                <a:spcPts val="2400"/>
              </a:spcAft>
              <a:defRPr sz="1050">
                <a:solidFill>
                  <a:srgbClr val="94A3B8"/>
                </a:solidFill>
              </a:defRPr>
            </a:pPr>
            <a:r>
              <a:t>Pengujian komprehensif pada level browser nyata (Playwright/Chrome) dan 189 PHPUnit Feature Tests</a:t>
            </a:r>
            <a:br/>
            <a:r>
              <a:t>membuktikan bahwa modul Dosen Pembimbing Lapangan (DPL) bebas regresi fungsional.</a:t>
            </a:r>
            <a:br/>
            <a:r>
              <a:t>Penambahan 5 fitur inovasi (Smart Action Center, Dual Badges, Supervision Log, Berita Acara A4, dan Ekspor CSV)</a:t>
            </a:r>
            <a:br/>
            <a:r>
              <a:t>meningkatkan efektivitas bimbingan akademik serta menjamin keakuratan pelaporan perguruan tinggi.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4480560" y="4480560"/>
            <a:ext cx="32004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Kembali ke Slide Utama (Cover) 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